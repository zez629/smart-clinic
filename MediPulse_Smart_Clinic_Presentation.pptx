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88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MediPulse Smart Clinic presentation. This is a graduation project showcasing an IoT-based smart healthcare system. The project title is MediPulse - Smart Clinic (العيادة الذكية).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team member and their role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 space and how MediPulse addresses real-world healthcare inefficiencies. The system bridges the gap between IoT hardware and web-based healthcare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core problems that MediPulse solves: manual queue management, manual vital measurements, lack of digital records, and absence of alert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objectives drive the MediPulse project. Each addresses a specific problem identified in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hardware consists of an ESP32 as the main controller, MAX30105 for pulse oximetry, DS18B20 for temperature, and a 16x2 LCD for local display. A buzzer provides audio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software stack spans embedded C++ for ESP32, Node.js for the backend REST API, and vanilla HTML/CSS/JS for the frontend dashboard. Communication uses HTTP over WiFi with JSON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three-layer architecture separates concerns: patients interact through the web, the Node.js server orchestrates data flow, and the ESP32 device handles physical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a 6-step loop: patient registers on web → server queues → ESP32 fetches current patient → LCD shows name → OK button triggers measurement → results sent to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Arduino sketch includes: WiFi connection, periodic polling of the server for the current patient name, MAX30105 finger detection, BPM measurement loop with averaging, DS18B20 temperature reading, and HTTP POST to send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sensors power MediPulse: the MAX30105 optical sensor for pulse rate detection, and the DS18B20 digital thermometer for body temperature. Both communicate digitally with the ESP32.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LCD shows the system state at all times: idle, patient waiting, measuring, and done. I2C communication uses only 2 wires (SDA/SCL) keeping wiring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Node.js Express server exposes 8 REST endpoints. It handles patient registration with duplicate detection, queue management, device heartbeat tracking, and result storage in data.json.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web interfaces: 1) Patient registration form at /, 2) Admin dashboard at /admin showing queue, current patient, and results table, 3) Results search at /result for patients to view their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standout features of MediPulse: duplicate patient prevention, automatic health status classification, audio buzzer alerts, real-time device status, persistent data storage, and auto-timeout.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test cases passed successfully. The sample result shows patient Ezzat: BPM 85, temperature 37.7°C, status Normal - exactly as displayed in the admin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challenges encountered: sensor noise, WiFi stability, LCD Arabic text limitations, queue synchronization, finger detection calibration, and data persistence across server restarts.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roadmap includes: AI-powered diagnosis, mobile app, MQTT for real-time comms, admin authentication, MongoDB database, and SpO2 monitoring using the existing MAX30105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MediPulse achieved all its objectives: automated queue management, reliable vital signs measurement, and a real-time dashboard. The system is production-ready for small clinic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Open the floor for questions. Be ready to demonstrate the live system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0D254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943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MediPulse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Clinic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العيادة الذكية | نظام الرعاية الصحية الذكي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365760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931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2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11680" y="3931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2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66160" y="3931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2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20640" y="3931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2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0" y="3931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2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|  2026  |  Smart Healthcare Systems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Team Members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2729" y="1943100"/>
            <a:ext cx="4114800" cy="14630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5609" y="2217420"/>
            <a:ext cx="822960" cy="8229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9" y="2235708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1449" y="22174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</a:rPr>
              <a:t>Ezzat Sadek Ezzat    241400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11449" y="26289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&amp; </a:t>
            </a: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</a:t>
            </a:r>
            <a:endParaRPr lang="en-US" sz="1000" dirty="0" smtClean="0">
              <a:solidFill>
                <a:srgbClr val="00C9A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 smtClean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Server Development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11449" y="29489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11849" y="1943100"/>
            <a:ext cx="4114800" cy="14630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4729" y="2217420"/>
            <a:ext cx="822960" cy="8229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449" y="2235708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00569" y="22885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Mohamed </a:t>
            </a: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Tharwat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Elsayed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</a:t>
            </a:r>
            <a:endParaRPr lang="ar-EG" sz="1400" b="1" dirty="0" smtClean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241219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00569" y="26289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00569" y="29489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554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544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9436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9436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Prof. </a:t>
            </a:r>
            <a:r>
              <a:rPr lang="en-US" sz="1100" i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Tamer </a:t>
            </a: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المقدمة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9319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face growing inefficiencies in patient management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623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queue management wastes time and increases errors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9464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5237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 measurement often requires expensive dedicated equipment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8269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2369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MediPulse integrates IoT sensors with smart software to solve these problems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automates patient intake, vital measurement, and data reporting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577840" y="1005840"/>
            <a:ext cx="32004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1097280"/>
            <a:ext cx="3017520" cy="20116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5778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Clinic Portal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5778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العيادة الذكية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557784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1.1: Patient Registration Interface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تعريف المشكلة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691640"/>
          </a:xfrm>
          <a:prstGeom prst="rect">
            <a:avLst/>
          </a:prstGeom>
          <a:solidFill>
            <a:srgbClr val="120A0A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Waiting Times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طول أوقات الانتظار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88720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queue manually with no automated tracking system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120A0A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Vital Signs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7784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يدوي للعلامات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577840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and temperature recorded manually, prone to errors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114800" cy="1691640"/>
          </a:xfrm>
          <a:prstGeom prst="rect">
            <a:avLst/>
          </a:prstGeom>
          <a:solidFill>
            <a:srgbClr val="120A0A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97180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918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54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Digital Records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سجلات رقمية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8872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results not stored or accessible digitally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120A0A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97180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154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Alerts System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7784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نظام تنبيهات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7784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readings not flagged automatically for doctors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 المشروع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" y="1325880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patient queue management via web registration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أتمتة إدارة قوائم انتظار المرضى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80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32120" y="1325880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heart rate (BPM) using MAX30105 optical sensor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معدل ضربات القلب باستخدام حساس MAX30105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5420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3000" y="2587752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body temperature using DS18B20 sensor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862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درجة حرارة الجسم باستخدام DS18B20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420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32120" y="2587752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results wirelessly to Node.js server via WiFi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2862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النتائج لاسلكياً إلى خادم Node.js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75304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8039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143000" y="3849624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6667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real-time data on web dashboard for clinic staff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41239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البيانات على لوحة التحكم للطاقم الطبي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114800" cy="10972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8039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532120" y="3849624"/>
            <a:ext cx="1828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6667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staff of abnormal readings using buzzer and status flags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41239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 الطاقم عند القراءات غير الطبيعية بالجرس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Hardware Components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المكونات الصلبة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246888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788920"/>
            <a:ext cx="274320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 Dev 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التحكم الرئيسية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240MHz, WiFi + BT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4.1: ESP32 Dev Board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097280"/>
            <a:ext cx="2468880" cy="1645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00400" y="2788920"/>
            <a:ext cx="274320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MAX30105 Sensor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حساس النبض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9184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heart rate &amp; SpO2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9184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4.2: MAX30105 Sensor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080760" y="1005840"/>
            <a:ext cx="2743200" cy="39319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097280"/>
            <a:ext cx="2468880" cy="16459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080760" y="2788920"/>
            <a:ext cx="274320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17220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16×2 I2C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7220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العرض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7220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chars × 2 rows, I2C 0x27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17220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4.3: LCD 16×2 I2C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8641080" y="1005840"/>
            <a:ext cx="9144" cy="9144"/>
          </a:xfrm>
          <a:prstGeom prst="rect">
            <a:avLst/>
          </a:prstGeom>
          <a:solidFill>
            <a:srgbClr val="0A0F1E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Components  |  مكونات إضافية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20040" y="5102352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20040" y="5102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Temperature Sensor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2057400" y="5102352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057400" y="5102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 (5V)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3794760" y="5102352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94760" y="5102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&amp; NO Push Buttons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5532120" y="5102352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532120" y="5102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Pull-up Resistors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7269480" y="5102352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269480" y="5102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Power Supply / USB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Software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 البرمجية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45720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IDE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 تطوير Arduino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938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development using C++ and Arduino libraries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651760" cy="45720"/>
          </a:xfrm>
          <a:prstGeom prst="rect">
            <a:avLst/>
          </a:prstGeom>
          <a:solidFill>
            <a:srgbClr val="339933"/>
          </a:solidFill>
          <a:ln w="12700">
            <a:solidFill>
              <a:srgbClr val="33993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887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93192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خادم Node.js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337560" y="1938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handling queue, results, and device communication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005840"/>
            <a:ext cx="2651760" cy="4572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887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 / CSS3 / JS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7665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الويب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172200" y="1938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dashboard for patient management and monitoring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017520"/>
            <a:ext cx="265176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004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/ WiFi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9728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بروتوكول الاتصال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50292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sends and receives JSON data over WiFi using HTTPClient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00400" y="301752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301752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0040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Data Format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93192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البيانات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333756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exchanged as structured JSON between ESP32 and server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35040" y="3017520"/>
            <a:ext cx="265176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3017520"/>
            <a:ext cx="2651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200400"/>
            <a:ext cx="502920" cy="5029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System Storage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76656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التخزين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61722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 persists queue, current patient, and results on disk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النظام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0690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16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طبقة المريض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Device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 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743200" cy="40690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216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طبقة الخادم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29000" y="150876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60604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70332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data.json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960120"/>
            <a:ext cx="2743200" cy="40690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216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طبقة الجهاز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150876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 MCU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60604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703320"/>
            <a:ext cx="23774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Display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17520" y="2926080"/>
            <a:ext cx="27432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2926080"/>
            <a:ext cx="27432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← WiFi HTTP →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893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← WiFi HTTP →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HTTP/REST over WiFi  |  التواصل: HTTP عبر WiFi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System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تدفق عمل النظام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640080" cy="640080"/>
          </a:xfrm>
          <a:prstGeom prst="ellipse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Registers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يسجل المريض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508760"/>
            <a:ext cx="640080" cy="64008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544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0690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Queues Patient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06908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الخادم يضع المريض في الطابور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508760"/>
            <a:ext cx="640080" cy="64008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544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9951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 Fetches Name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99516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يجلب اسم المريض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1480" y="3474720"/>
            <a:ext cx="640080" cy="640080"/>
          </a:xfrm>
          <a:prstGeom prst="ellipse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044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6060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1430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Shows Patient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43000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الشاشة تعرض المريض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00400" y="297180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3474720"/>
            <a:ext cx="640080" cy="64008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52044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3212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069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OK → Measure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069080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OK → القياس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126480" y="2971800"/>
            <a:ext cx="2743200" cy="1737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63640" y="3474720"/>
            <a:ext cx="640080" cy="640080"/>
          </a:xfrm>
          <a:prstGeom prst="ellipse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520440"/>
            <a:ext cx="548640" cy="5486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45820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699516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→ Dashboard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995160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تظهر في اللوحة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Arduino Code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كود Arduino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402336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749040"/>
          </a:xfrm>
          <a:prstGeom prst="rect">
            <a:avLst/>
          </a:prstGeom>
          <a:solidFill>
            <a:srgbClr val="060D1A"/>
          </a:solidFill>
          <a:ln>
            <a:solidFill>
              <a:srgbClr val="1E3A5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Libraries Used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&lt;HTTPClient.h&gt;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&lt;LiquidCrystal_I2C.h&gt;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"MAX30105.h"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&lt;DallasTemperature.h&gt;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Measure BPM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irValue = sensor.getIR();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(checkForBeat(irValue))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bpmSum += currentBPM;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bpmCount++;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results to server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http.POST(jsonPayload);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389120" y="960120"/>
            <a:ext cx="438912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 Connection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 WiFi — ESP32 connects to local network using ssid/password credentials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438912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11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3042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الإصبع — IR value threshold &gt; 50,000 confirms finger placement on sensor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2971800"/>
            <a:ext cx="438912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BPM Averaging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310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النبض — Multiple BPM readings averaged over 20s for accuracy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3977640"/>
            <a:ext cx="438912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4023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POST 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3159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النتيجة — JSON payload with name, BPM, temp sent to /result endpoint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🩺  Sensor Technology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تقنية الحساسات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9776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solidFill>
            <a:srgbClr val="7C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MAX30105 — Pulse Sensor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44752"/>
            <a:ext cx="219456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090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Optical heart-rate + SpO2 sensor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33924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Red, IR, Green LEDs + photodetector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36941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I2C interface (SDA/SCL)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39959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checkForBeat() detects pulse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 &gt; 50,000 = finger present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4599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Sampling: every 200ms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576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5.1: MAX30105 Sensor Module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63440" y="1005840"/>
            <a:ext cx="4114800" cy="39776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7C3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DS18B20 — Temperature Sensor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508760"/>
            <a:ext cx="1371600" cy="1371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00600" y="3090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thermometer, 1-Wire protocol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800600" y="33924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Range: −55°C to +125°C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00600" y="36941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Resolution: 0.0625°C (12-bit)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800600" y="39959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DallasTemperature library used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80060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GPIO pin (Pin 4)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800600" y="4599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 range: 36.1°C – 37.2°C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66344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5.2: DS18B20 Temperature Sensor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📟  LCD Interface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شاشة LCD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9776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393192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16×2 I2C LCD Display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6.1: LCD 16×2 with I2C Backpack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11480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05840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051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 State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37960" y="1078992"/>
            <a:ext cx="2103120" cy="658368"/>
          </a:xfrm>
          <a:prstGeom prst="rect">
            <a:avLst/>
          </a:prstGeom>
          <a:solidFill>
            <a:srgbClr val="0010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133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Clinic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836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1993392"/>
            <a:ext cx="411480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993392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Shown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2066544"/>
            <a:ext cx="2103120" cy="658368"/>
          </a:xfrm>
          <a:prstGeom prst="rect">
            <a:avLst/>
          </a:prstGeom>
          <a:solidFill>
            <a:srgbClr val="001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Ahmed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8368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OK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63440" y="2980944"/>
            <a:ext cx="411480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2980944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37960" y="3054096"/>
            <a:ext cx="2103120" cy="658368"/>
          </a:xfrm>
          <a:prstGeom prst="rect">
            <a:avLst/>
          </a:prstGeom>
          <a:solidFill>
            <a:srgbClr val="001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BPM: 85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8368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37.2C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3968496"/>
            <a:ext cx="4114800" cy="8686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968496"/>
            <a:ext cx="54864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4014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State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37960" y="4041648"/>
            <a:ext cx="2103120" cy="658368"/>
          </a:xfrm>
          <a:prstGeom prst="rect">
            <a:avLst/>
          </a:prstGeom>
          <a:solidFill>
            <a:srgbClr val="0010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Sent! Next: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58368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Name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Node.js Server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خادم Node.js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D1527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02336"/>
          </a:xfrm>
          <a:prstGeom prst="rect">
            <a:avLst/>
          </a:prstGeom>
          <a:solidFill>
            <a:srgbClr val="111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81328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4904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patient, validate, add to queue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402336"/>
          </a:xfrm>
          <a:prstGeom prst="rect">
            <a:avLst/>
          </a:prstGeom>
          <a:solidFill>
            <a:srgbClr val="0D15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20240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17320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/current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2938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fetches current patient name + heartbeat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402336"/>
          </a:xfrm>
          <a:prstGeom prst="rect">
            <a:avLst/>
          </a:prstGeom>
          <a:solidFill>
            <a:srgbClr val="111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59152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236829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queue, set next patient as current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8412480" cy="402336"/>
          </a:xfrm>
          <a:prstGeom prst="rect">
            <a:avLst/>
          </a:prstGeom>
          <a:solidFill>
            <a:srgbClr val="0D15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98064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17320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80720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BPM + temp from ESP32, save result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8412480" cy="402336"/>
          </a:xfrm>
          <a:prstGeom prst="rect">
            <a:avLst/>
          </a:prstGeom>
          <a:solidFill>
            <a:srgbClr val="111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36976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41732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2461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results for dashboard display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412480" cy="402336"/>
          </a:xfrm>
          <a:prstGeom prst="rect">
            <a:avLst/>
          </a:prstGeom>
          <a:solidFill>
            <a:srgbClr val="0D15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75888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41732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/search-result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368503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searches own result by name/phone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402336"/>
          </a:xfrm>
          <a:prstGeom prst="rect">
            <a:avLst/>
          </a:prstGeom>
          <a:solidFill>
            <a:srgbClr val="111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14800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14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41732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/remove/:id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37560" y="412394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removes specific patient from queue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489704"/>
            <a:ext cx="8412480" cy="402336"/>
          </a:xfrm>
          <a:prstGeom prst="rect">
            <a:avLst/>
          </a:prstGeom>
          <a:solidFill>
            <a:srgbClr val="0D15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553712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17320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456285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clears entire queue and all results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Web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التحكم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51560"/>
            <a:ext cx="256032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Registration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المريض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9.1: Patient Registration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4320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051560"/>
            <a:ext cx="25603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4612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الإدارة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4612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9.2: Admin Dashboard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172200" y="960120"/>
            <a:ext cx="274320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1051560"/>
            <a:ext cx="2560320" cy="2834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Results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7220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الطبية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17220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9.3: Medical Results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الميزات الرئيسية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0" cy="73152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70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Prevention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25880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منع التكرار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or phone cannot register twice in queue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188720"/>
            <a:ext cx="731520" cy="731520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1170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Health Detection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251960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الحالة الصحية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8328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&lt; 60 = Low, 60-100 = Normal, &gt; 100 = High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188720"/>
            <a:ext cx="731520" cy="731520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3444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1170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Buzzer Alerts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178040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صوتية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30936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alerts for measurements start, end, and errors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200400"/>
            <a:ext cx="731520" cy="731520"/>
          </a:xfrm>
          <a:prstGeom prst="ellipse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4612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Status Tracking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325880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حالة الجهاز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5720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ESP32 online/offline based on heartbeat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4612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83280" y="3200400"/>
            <a:ext cx="731520" cy="731520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46120"/>
            <a:ext cx="640080" cy="6400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5196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Storage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251960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دائم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338328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 saves queue and results across server restarts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17220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9360" y="3200400"/>
            <a:ext cx="731520" cy="731520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46120"/>
            <a:ext cx="640080" cy="6400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Timeout (20s)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7178040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إيقاف تلقائي بعد 20 ثانية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30936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stops after 20s or when finger is removed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Testing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 والنتائج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212080" cy="406908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CaseResultDetails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74920" cy="3840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name, 11-digit phone, age 1-120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Prevention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name or phone rejected with Arabic message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Connection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in &lt; 5s, reconnects automatically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&gt; 50,000 threshold correctly identifies finger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 Measurement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multiple readings over 20s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Reading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reads within ±0.5°C accuracy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Result 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payload sent and stored in 200ms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Display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updates, device online indicator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960120"/>
            <a:ext cx="3017520" cy="4069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Result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417320"/>
            <a:ext cx="283464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3611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 Ezzat | Age: 77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60720" y="3867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BPM: 85  |  Temp: 37.7°C  |  Status: Normal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760720" y="46908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10.1: Admin Dashboard with Results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🚧  Challenges Faced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 التي واجهناها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Noise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14813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Implemented averaging over multiple readings to smooth BPM values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80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115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 Stability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40680" y="14813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Added reconnection logic and heartbeat tracking for device status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0040" y="23774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3774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51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Arabic Text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51560" y="2852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Used English abbreviations and symbols on LCD; Arabic on web only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709160" y="23774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3774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517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Sync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40680" y="2852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ESP32 polls /current every few seconds to stay in sync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7490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2336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858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 Detection Threshold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51560" y="42245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Calibrated IR threshold value after extensive physical testing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709160" y="3749040"/>
            <a:ext cx="4114800" cy="118872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374904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2336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858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Persistence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40680" y="42245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Implemented saveData() / loadData() with data.json on server restart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Improvements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التطويرات المستقبلية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Diagnosis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تشخيص بالذكاء الاصطناعي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detect arrhythmia and predict health risks from BPM patterns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0584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8016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188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06908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موبايل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8328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iOS/Android app for patient registration and result viewing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00584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188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MQTT Protocol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99516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بروتوكول MQTT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309360" y="1993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HTTP polling with MQTT pub/sub for real-time low-latency updates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1752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9184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2004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4300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المصادقة والأمان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5720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system with JWT tokens to secure the dashboard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4612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01752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91840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69080" y="32004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(MongoDB)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06908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338328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data.json with MongoDB for scalable patient record management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172200" y="3017520"/>
            <a:ext cx="2743200" cy="182880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01752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91840"/>
            <a:ext cx="594360" cy="5943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32004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SpO2 Monitoring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99516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تشبع الأكسجين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309360" y="4005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blood oxygen saturation (SpO2) readings using MAX30105 red LED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الخاتمة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3977640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04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15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MediPulse successfully demonstrates an end-to-end smart clinic automation system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7282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device reliably measures and transmits vital signs over WiFi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572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40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Node.js server efficiently manages patient queues and medical records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0837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dashboard provides real-time visibility for clinic administrators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21024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objectives were achieved within the project timeline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33672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4178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scalable and ready for integration into real clinic environments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5852160" y="1005840"/>
            <a:ext cx="292608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585216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85216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5943600" y="2423160"/>
            <a:ext cx="2743200" cy="566928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943600" y="2423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6858000" y="2423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943600" y="3081528"/>
            <a:ext cx="2743200" cy="566928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943600" y="30815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6858000" y="3081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943600" y="3739896"/>
            <a:ext cx="2743200" cy="566928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43600" y="37398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6858000" y="3739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943600" y="4398264"/>
            <a:ext cx="2743200" cy="566928"/>
          </a:xfrm>
          <a:prstGeom prst="rect">
            <a:avLst/>
          </a:prstGeom>
          <a:solidFill>
            <a:srgbClr val="111B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943600" y="43982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20s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6858000" y="4398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Measure Time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0292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شكراً لكم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2743200" y="3200400"/>
            <a:ext cx="365760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MediPulse Smart Clinic  |  العيادة الذكية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|  أسئلة ومناقشة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2077</Words>
  <Application>Microsoft Office PowerPoint</Application>
  <PresentationFormat>On-screen Show (16:9)</PresentationFormat>
  <Paragraphs>392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MediPulse Smart Clinic</dc:title>
  <dc:subject>PptxGenJS Presentation</dc:subject>
  <dc:creator>MediPulse Team</dc:creator>
  <cp:lastModifiedBy>Ezzat Sadek</cp:lastModifiedBy>
  <cp:revision>3</cp:revision>
  <dcterms:created xsi:type="dcterms:W3CDTF">2026-05-06T23:06:06Z</dcterms:created>
  <dcterms:modified xsi:type="dcterms:W3CDTF">2026-05-06T23:21:08Z</dcterms:modified>
</cp:coreProperties>
</file>